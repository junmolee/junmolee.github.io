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4C5A"/>
    <a:srgbClr val="F56356"/>
    <a:srgbClr val="F7935C"/>
    <a:srgbClr val="F3AD6A"/>
    <a:srgbClr val="EEC47D"/>
    <a:srgbClr val="ECDA99"/>
    <a:srgbClr val="F87B5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AC8C38-6F07-444B-9F15-23A71F73D035}" v="1" dt="2026-08-08T09:21:33.8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57" autoAdjust="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nmo Lee" userId="1342332577_tp_dropbox_plus" providerId="OAuth2" clId="{F77C9E53-A0C0-49D6-8756-00FB6C20D315}"/>
    <pc:docChg chg="undo custSel addSld delSld modSld">
      <pc:chgData name="Junmo Lee" userId="1342332577_tp_dropbox_plus" providerId="OAuth2" clId="{F77C9E53-A0C0-49D6-8756-00FB6C20D315}" dt="2026-08-08T09:21:33.833" v="3290" actId="165"/>
      <pc:docMkLst>
        <pc:docMk/>
      </pc:docMkLst>
      <pc:sldChg chg="new del">
        <pc:chgData name="Junmo Lee" userId="1342332577_tp_dropbox_plus" providerId="OAuth2" clId="{F77C9E53-A0C0-49D6-8756-00FB6C20D315}" dt="2026-08-08T09:21:24.537" v="3286" actId="47"/>
        <pc:sldMkLst>
          <pc:docMk/>
          <pc:sldMk cId="23053992" sldId="256"/>
        </pc:sldMkLst>
      </pc:sldChg>
      <pc:sldChg chg="addSp delSp modSp new del mod">
        <pc:chgData name="Junmo Lee" userId="1342332577_tp_dropbox_plus" providerId="OAuth2" clId="{F77C9E53-A0C0-49D6-8756-00FB6C20D315}" dt="2026-08-08T09:21:25.909" v="3287" actId="47"/>
        <pc:sldMkLst>
          <pc:docMk/>
          <pc:sldMk cId="1198693194" sldId="257"/>
        </pc:sldMkLst>
      </pc:sldChg>
      <pc:sldChg chg="addSp delSp modSp new del mod">
        <pc:chgData name="Junmo Lee" userId="1342332577_tp_dropbox_plus" providerId="OAuth2" clId="{F77C9E53-A0C0-49D6-8756-00FB6C20D315}" dt="2026-08-08T09:21:26.666" v="3288" actId="47"/>
        <pc:sldMkLst>
          <pc:docMk/>
          <pc:sldMk cId="1422630572" sldId="258"/>
        </pc:sldMkLst>
      </pc:sldChg>
      <pc:sldChg chg="addSp delSp modSp new mod">
        <pc:chgData name="Junmo Lee" userId="1342332577_tp_dropbox_plus" providerId="OAuth2" clId="{F77C9E53-A0C0-49D6-8756-00FB6C20D315}" dt="2026-08-08T09:21:33.833" v="3290" actId="165"/>
        <pc:sldMkLst>
          <pc:docMk/>
          <pc:sldMk cId="3054870465" sldId="259"/>
        </pc:sldMkLst>
        <pc:spChg chg="add mod topLvl">
          <ac:chgData name="Junmo Lee" userId="1342332577_tp_dropbox_plus" providerId="OAuth2" clId="{F77C9E53-A0C0-49D6-8756-00FB6C20D315}" dt="2026-08-08T09:21:33.833" v="3290" actId="165"/>
          <ac:spMkLst>
            <pc:docMk/>
            <pc:sldMk cId="3054870465" sldId="259"/>
            <ac:spMk id="26" creationId="{31E9ADEE-8F38-C2F7-4993-5197447FE575}"/>
          </ac:spMkLst>
        </pc:spChg>
        <pc:spChg chg="add mod topLvl">
          <ac:chgData name="Junmo Lee" userId="1342332577_tp_dropbox_plus" providerId="OAuth2" clId="{F77C9E53-A0C0-49D6-8756-00FB6C20D315}" dt="2026-08-08T09:21:33.833" v="3290" actId="165"/>
          <ac:spMkLst>
            <pc:docMk/>
            <pc:sldMk cId="3054870465" sldId="259"/>
            <ac:spMk id="27" creationId="{B2F2E7CE-0726-8620-0558-38A143491400}"/>
          </ac:spMkLst>
        </pc:spChg>
        <pc:spChg chg="add mod">
          <ac:chgData name="Junmo Lee" userId="1342332577_tp_dropbox_plus" providerId="OAuth2" clId="{F77C9E53-A0C0-49D6-8756-00FB6C20D315}" dt="2026-08-04T07:02:45.118" v="3285"/>
          <ac:spMkLst>
            <pc:docMk/>
            <pc:sldMk cId="3054870465" sldId="259"/>
            <ac:spMk id="28" creationId="{57400425-8617-EA86-425F-388639C8294A}"/>
          </ac:spMkLst>
        </pc:spChg>
        <pc:spChg chg="mod topLvl">
          <ac:chgData name="Junmo Lee" userId="1342332577_tp_dropbox_plus" providerId="OAuth2" clId="{F77C9E53-A0C0-49D6-8756-00FB6C20D315}" dt="2026-08-08T09:21:33.833" v="3290" actId="165"/>
          <ac:spMkLst>
            <pc:docMk/>
            <pc:sldMk cId="3054870465" sldId="259"/>
            <ac:spMk id="29" creationId="{A2D272C1-D903-8D57-89C5-953F491FDD95}"/>
          </ac:spMkLst>
        </pc:spChg>
        <pc:spChg chg="mod topLvl">
          <ac:chgData name="Junmo Lee" userId="1342332577_tp_dropbox_plus" providerId="OAuth2" clId="{F77C9E53-A0C0-49D6-8756-00FB6C20D315}" dt="2026-08-08T09:21:33.833" v="3290" actId="165"/>
          <ac:spMkLst>
            <pc:docMk/>
            <pc:sldMk cId="3054870465" sldId="259"/>
            <ac:spMk id="30" creationId="{CBDFEFC5-662F-A4EE-9D08-1EAF2FAABBC7}"/>
          </ac:spMkLst>
        </pc:spChg>
        <pc:spChg chg="add mod topLvl">
          <ac:chgData name="Junmo Lee" userId="1342332577_tp_dropbox_plus" providerId="OAuth2" clId="{F77C9E53-A0C0-49D6-8756-00FB6C20D315}" dt="2026-08-08T09:21:33.833" v="3290" actId="165"/>
          <ac:spMkLst>
            <pc:docMk/>
            <pc:sldMk cId="3054870465" sldId="259"/>
            <ac:spMk id="34" creationId="{7AA098B6-27AF-0219-E7E9-0D489905086E}"/>
          </ac:spMkLst>
        </pc:spChg>
        <pc:spChg chg="add mod topLvl">
          <ac:chgData name="Junmo Lee" userId="1342332577_tp_dropbox_plus" providerId="OAuth2" clId="{F77C9E53-A0C0-49D6-8756-00FB6C20D315}" dt="2026-08-08T09:21:33.833" v="3290" actId="165"/>
          <ac:spMkLst>
            <pc:docMk/>
            <pc:sldMk cId="3054870465" sldId="259"/>
            <ac:spMk id="38" creationId="{069E8C55-BD8D-926A-1317-FCF43A422074}"/>
          </ac:spMkLst>
        </pc:spChg>
        <pc:spChg chg="add mod">
          <ac:chgData name="Junmo Lee" userId="1342332577_tp_dropbox_plus" providerId="OAuth2" clId="{F77C9E53-A0C0-49D6-8756-00FB6C20D315}" dt="2026-08-04T07:02:45.118" v="3285"/>
          <ac:spMkLst>
            <pc:docMk/>
            <pc:sldMk cId="3054870465" sldId="259"/>
            <ac:spMk id="39" creationId="{60664A1E-4215-20A8-375F-E531C5B9CB18}"/>
          </ac:spMkLst>
        </pc:spChg>
        <pc:spChg chg="add mod topLvl">
          <ac:chgData name="Junmo Lee" userId="1342332577_tp_dropbox_plus" providerId="OAuth2" clId="{F77C9E53-A0C0-49D6-8756-00FB6C20D315}" dt="2026-08-08T09:21:33.833" v="3290" actId="165"/>
          <ac:spMkLst>
            <pc:docMk/>
            <pc:sldMk cId="3054870465" sldId="259"/>
            <ac:spMk id="41" creationId="{DD59A3FB-7DDD-1EF4-D26D-198340784E77}"/>
          </ac:spMkLst>
        </pc:spChg>
        <pc:spChg chg="add mod topLvl">
          <ac:chgData name="Junmo Lee" userId="1342332577_tp_dropbox_plus" providerId="OAuth2" clId="{F77C9E53-A0C0-49D6-8756-00FB6C20D315}" dt="2026-08-08T09:21:33.833" v="3290" actId="165"/>
          <ac:spMkLst>
            <pc:docMk/>
            <pc:sldMk cId="3054870465" sldId="259"/>
            <ac:spMk id="42" creationId="{149A51F1-55C1-48ED-FB1B-9C83147A7BBB}"/>
          </ac:spMkLst>
        </pc:spChg>
        <pc:spChg chg="add mod">
          <ac:chgData name="Junmo Lee" userId="1342332577_tp_dropbox_plus" providerId="OAuth2" clId="{F77C9E53-A0C0-49D6-8756-00FB6C20D315}" dt="2026-08-04T07:02:45.118" v="3285"/>
          <ac:spMkLst>
            <pc:docMk/>
            <pc:sldMk cId="3054870465" sldId="259"/>
            <ac:spMk id="43" creationId="{64029820-B195-EB91-50AE-829898C63810}"/>
          </ac:spMkLst>
        </pc:spChg>
        <pc:spChg chg="mod topLvl">
          <ac:chgData name="Junmo Lee" userId="1342332577_tp_dropbox_plus" providerId="OAuth2" clId="{F77C9E53-A0C0-49D6-8756-00FB6C20D315}" dt="2026-08-08T09:21:33.833" v="3290" actId="165"/>
          <ac:spMkLst>
            <pc:docMk/>
            <pc:sldMk cId="3054870465" sldId="259"/>
            <ac:spMk id="44" creationId="{40F2502C-81BA-5809-5DA3-C1F606C2919A}"/>
          </ac:spMkLst>
        </pc:spChg>
        <pc:spChg chg="add mod topLvl">
          <ac:chgData name="Junmo Lee" userId="1342332577_tp_dropbox_plus" providerId="OAuth2" clId="{F77C9E53-A0C0-49D6-8756-00FB6C20D315}" dt="2026-08-08T09:21:33.833" v="3290" actId="165"/>
          <ac:spMkLst>
            <pc:docMk/>
            <pc:sldMk cId="3054870465" sldId="259"/>
            <ac:spMk id="45" creationId="{A8E569EF-EB36-5549-93CA-4087FD7DB8BB}"/>
          </ac:spMkLst>
        </pc:spChg>
        <pc:grpChg chg="mod">
          <ac:chgData name="Junmo Lee" userId="1342332577_tp_dropbox_plus" providerId="OAuth2" clId="{F77C9E53-A0C0-49D6-8756-00FB6C20D315}" dt="2026-08-08T09:21:30.851" v="3289" actId="1076"/>
          <ac:grpSpMkLst>
            <pc:docMk/>
            <pc:sldMk cId="3054870465" sldId="259"/>
            <ac:grpSpMk id="25" creationId="{AAA5B42E-E471-C2D1-1E30-4FC9B91D885F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FC6C2C-4CAB-43C1-BF37-3FF4B86DF1D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7CCE13-26F4-4747-A6C1-F1775699F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875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C0E4B-5D75-0723-9F2D-4D25E1A08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CA99AC-2644-AAA5-99B0-D995484C28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9ED03-8669-1885-BD47-59D314B4C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59EF-6EE9-4D5E-A524-F4AE2AD17DE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BE365-8000-F3B0-5389-D8FB045FD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4A937-1B89-D2F6-57BF-00D12B51F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CE150-3FD2-4355-96E0-31394B2EC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48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71E00-DD12-D331-9168-06B613D5B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F0974-5564-BA34-B831-77A7AD07E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A745C-B0FD-BBB9-5BFB-3D1EC0659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59EF-6EE9-4D5E-A524-F4AE2AD17DE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B3695-75F1-7040-27D4-777BAB2B3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2C020-6ECC-349F-A9D4-6C9FD64AD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CE150-3FD2-4355-96E0-31394B2EC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813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CE6B1-68A9-D462-36F7-6A04A4D06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86740-1502-67A7-7750-A035AA1BC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77486-48FB-21A1-6C17-87D3A7EF1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59EF-6EE9-4D5E-A524-F4AE2AD17DE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0686E-E236-54DA-1273-63B9E6070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D3D73-DF50-66B3-FCBB-3A5C5BB4B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CE150-3FD2-4355-96E0-31394B2EC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160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3D670-84BC-5BA5-3E46-5BFD92143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42FB9-5209-8967-69AE-E11E294CC3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6DF84D-4894-72AA-6466-B5B6FD7BF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A157A3-A759-D4F0-B4C2-746D01753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59EF-6EE9-4D5E-A524-F4AE2AD17DE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EDAE3-CCC4-BAC7-BCFF-F070C350D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CBB688-CDE0-225A-6B44-D61DFFE54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CE150-3FD2-4355-96E0-31394B2EC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80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D8B0F-3A67-8191-6F9A-5E87A0791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EEE71-0C09-66E0-1EC5-8ECD90953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129CE5-8AE7-5C34-02F6-C9ABF6F80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5E5D2F-7ECE-D866-3DED-CA46CA7C8D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AFDA77-0730-D924-FBC7-D1CEC472E1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C6F1C1-4B6B-1817-22E1-11F089FB4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59EF-6EE9-4D5E-A524-F4AE2AD17DE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151603-FE74-DBA9-663E-B04E43A89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88BCD6-005F-BEAF-B90B-D35A7DECC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CE150-3FD2-4355-96E0-31394B2EC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275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0B4E9-9513-FC05-60BE-9D261FBAE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507060-8887-D261-50E0-9F02B75EA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59EF-6EE9-4D5E-A524-F4AE2AD17DE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D141D5-AA7D-042D-DE57-10F9C44A2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5BC9DB-0342-647C-5247-FAD8323C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CE150-3FD2-4355-96E0-31394B2EC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741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748FF4-AC95-C285-C24B-02B3E47F5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59EF-6EE9-4D5E-A524-F4AE2AD17DE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1ADC09-64B1-E43F-356D-4D870C52B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D2803-6CBE-1015-0904-03A3E2B9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CE150-3FD2-4355-96E0-31394B2EC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932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E61AD-562A-EF6F-F350-A061F880F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8E807-A7BA-5FA9-F1A4-F262A5540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6CF56-7EA2-42C8-BCCC-A93403369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891EF9-1419-41CF-718C-C4192D8CA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59EF-6EE9-4D5E-A524-F4AE2AD17DE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CED60-7A01-C6F9-1335-4DFB6EA01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C3C11-3202-278A-13BC-2BD4449CC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CE150-3FD2-4355-96E0-31394B2EC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54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DBE4F-F599-87AC-23A1-EE6B11C2E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97B48B-D7D7-8DE0-BB29-17F3FFABF1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06930-24F3-9A76-BEBA-B385934C3C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43719B-184A-568B-2E4D-50D1782DF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59EF-6EE9-4D5E-A524-F4AE2AD17DE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64357-8AD2-DBC5-75B1-77C2FF835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AC728-ABAF-D02D-2F22-FA07597DD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CE150-3FD2-4355-96E0-31394B2EC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107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6DE76-FA73-F073-F2B2-5A2F831DD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E0C226-9047-2F5F-3E14-EB6C97D5AF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0B261-F152-A5C2-9428-DCAB82F5D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59EF-6EE9-4D5E-A524-F4AE2AD17DE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EAE0A-F089-F8CD-64C6-DCBDDDFBC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2B5E4-C6D4-32BE-6980-CE0C087DA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CE150-3FD2-4355-96E0-31394B2EC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988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88E944-8563-CD8A-603E-944AC80433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0BD520-5CE6-74B9-4FA1-10E7BE4493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3A072-99DF-CD51-2213-4E569670B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259EF-6EE9-4D5E-A524-F4AE2AD17DE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4E575-F9C3-E2A3-B65E-35A451798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A03E8-07B2-BC44-F6BF-1BE22E953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CE150-3FD2-4355-96E0-31394B2EC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229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E1CE44-51FB-96B2-9692-2A4BB377D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221D1-1282-758C-49F6-E28ADB780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D089C-1575-CFA0-B763-EFEBDB7B60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1259EF-6EE9-4D5E-A524-F4AE2AD17DE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6BA74-161D-8A80-6578-A19B955EB2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F965A-7F19-171F-F8EE-E7D5349400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5CE150-3FD2-4355-96E0-31394B2EC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2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30">
            <a:extLst>
              <a:ext uri="{FF2B5EF4-FFF2-40B4-BE49-F238E27FC236}">
                <a16:creationId xmlns:a16="http://schemas.microsoft.com/office/drawing/2014/main" id="{31E9ADEE-8F38-C2F7-4993-5197447FE575}"/>
              </a:ext>
            </a:extLst>
          </p:cNvPr>
          <p:cNvSpPr txBox="1"/>
          <p:nvPr/>
        </p:nvSpPr>
        <p:spPr>
          <a:xfrm>
            <a:off x="2947034" y="1367720"/>
            <a:ext cx="1403917" cy="167485"/>
          </a:xfrm>
          <a:prstGeom prst="rect">
            <a:avLst/>
          </a:prstGeom>
          <a:solidFill>
            <a:srgbClr val="ECDA99"/>
          </a:solidFill>
          <a:ln w="6350">
            <a:noFill/>
          </a:ln>
        </p:spPr>
        <p:txBody>
          <a:bodyPr wrap="square" tIns="9144" bIns="9144" rtlCol="0">
            <a:spAutoFit/>
          </a:bodyPr>
          <a:lstStyle/>
          <a:p>
            <a:pPr marL="0" marR="0" algn="ctr">
              <a:buNone/>
            </a:pPr>
            <a:r>
              <a:rPr lang="en-US" sz="1000" b="1" kern="1200" dirty="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Process Development</a:t>
            </a:r>
            <a:endParaRPr lang="en-US" sz="1200" dirty="0">
              <a:effectLst/>
              <a:latin typeface="Calibri" panose="020F0502020204030204" pitchFamily="34" charset="0"/>
              <a:ea typeface="Malgun Gothic" panose="020B0503020000020004" pitchFamily="34" charset="-127"/>
            </a:endParaRPr>
          </a:p>
        </p:txBody>
      </p:sp>
      <p:sp>
        <p:nvSpPr>
          <p:cNvPr id="27" name="TextBox 32">
            <a:extLst>
              <a:ext uri="{FF2B5EF4-FFF2-40B4-BE49-F238E27FC236}">
                <a16:creationId xmlns:a16="http://schemas.microsoft.com/office/drawing/2014/main" id="{B2F2E7CE-0726-8620-0558-38A143491400}"/>
              </a:ext>
            </a:extLst>
          </p:cNvPr>
          <p:cNvSpPr txBox="1"/>
          <p:nvPr/>
        </p:nvSpPr>
        <p:spPr>
          <a:xfrm>
            <a:off x="2947033" y="1863169"/>
            <a:ext cx="1403917" cy="167485"/>
          </a:xfrm>
          <a:prstGeom prst="rect">
            <a:avLst/>
          </a:prstGeom>
          <a:solidFill>
            <a:srgbClr val="EEC47D"/>
          </a:solidFill>
          <a:ln w="6350">
            <a:noFill/>
          </a:ln>
        </p:spPr>
        <p:txBody>
          <a:bodyPr wrap="square" tIns="9144" bIns="9144" rtlCol="0">
            <a:spAutoFit/>
          </a:bodyPr>
          <a:lstStyle/>
          <a:p>
            <a:pPr marL="0" marR="0" algn="ctr">
              <a:buNone/>
            </a:pPr>
            <a:r>
              <a:rPr lang="en-US" sz="1000" b="1" kern="12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Device Fabrication</a:t>
            </a:r>
            <a:endParaRPr lang="en-US" sz="1200">
              <a:effectLst/>
              <a:latin typeface="Calibri" panose="020F0502020204030204" pitchFamily="34" charset="0"/>
              <a:ea typeface="Malgun Gothic" panose="020B0503020000020004" pitchFamily="34" charset="-127"/>
            </a:endParaRPr>
          </a:p>
        </p:txBody>
      </p:sp>
      <p:sp>
        <p:nvSpPr>
          <p:cNvPr id="28" name="TextBox 34">
            <a:extLst>
              <a:ext uri="{FF2B5EF4-FFF2-40B4-BE49-F238E27FC236}">
                <a16:creationId xmlns:a16="http://schemas.microsoft.com/office/drawing/2014/main" id="{57400425-8617-EA86-425F-388639C8294A}"/>
              </a:ext>
            </a:extLst>
          </p:cNvPr>
          <p:cNvSpPr txBox="1"/>
          <p:nvPr/>
        </p:nvSpPr>
        <p:spPr>
          <a:xfrm>
            <a:off x="2947032" y="2342053"/>
            <a:ext cx="1404552" cy="310336"/>
          </a:xfrm>
          <a:prstGeom prst="rect">
            <a:avLst/>
          </a:prstGeom>
          <a:solidFill>
            <a:srgbClr val="F3AD6A"/>
          </a:solidFill>
          <a:ln w="6350">
            <a:noFill/>
          </a:ln>
        </p:spPr>
        <p:txBody>
          <a:bodyPr wrap="square" tIns="9144" bIns="9144" rtlCol="0">
            <a:spAutoFit/>
          </a:bodyPr>
          <a:lstStyle/>
          <a:p>
            <a:pPr marL="0" marR="0" algn="ctr">
              <a:buNone/>
            </a:pPr>
            <a:r>
              <a:rPr lang="en-US" sz="1000" b="1" kern="12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Monolithic 3D (M3D)</a:t>
            </a:r>
            <a:endParaRPr lang="en-US" sz="1200">
              <a:effectLst/>
              <a:latin typeface="Calibri" panose="020F0502020204030204" pitchFamily="34" charset="0"/>
              <a:ea typeface="Malgun Gothic" panose="020B0503020000020004" pitchFamily="34" charset="-127"/>
            </a:endParaRPr>
          </a:p>
          <a:p>
            <a:pPr marL="0" marR="0" algn="ctr">
              <a:buNone/>
            </a:pPr>
            <a:r>
              <a:rPr lang="en-US" sz="1000" b="1" kern="12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Process Integration</a:t>
            </a:r>
            <a:endParaRPr lang="en-US" sz="1200">
              <a:effectLst/>
              <a:latin typeface="Calibri" panose="020F0502020204030204" pitchFamily="34" charset="0"/>
              <a:ea typeface="Malgun Gothic" panose="020B0503020000020004" pitchFamily="34" charset="-127"/>
            </a:endParaRPr>
          </a:p>
        </p:txBody>
      </p:sp>
      <p:sp>
        <p:nvSpPr>
          <p:cNvPr id="29" name="TextBox 36">
            <a:extLst>
              <a:ext uri="{FF2B5EF4-FFF2-40B4-BE49-F238E27FC236}">
                <a16:creationId xmlns:a16="http://schemas.microsoft.com/office/drawing/2014/main" id="{A2D272C1-D903-8D57-89C5-953F491FDD95}"/>
              </a:ext>
            </a:extLst>
          </p:cNvPr>
          <p:cNvSpPr txBox="1"/>
          <p:nvPr/>
        </p:nvSpPr>
        <p:spPr>
          <a:xfrm>
            <a:off x="2951265" y="2986291"/>
            <a:ext cx="1403917" cy="310336"/>
          </a:xfrm>
          <a:prstGeom prst="rect">
            <a:avLst/>
          </a:prstGeom>
          <a:solidFill>
            <a:srgbClr val="F7935C"/>
          </a:solidFill>
          <a:ln w="6350">
            <a:noFill/>
          </a:ln>
        </p:spPr>
        <p:txBody>
          <a:bodyPr wrap="square" tIns="9144" bIns="9144" rtlCol="0">
            <a:spAutoFit/>
          </a:bodyPr>
          <a:lstStyle/>
          <a:p>
            <a:pPr marL="0" marR="0" algn="ctr">
              <a:buNone/>
            </a:pPr>
            <a:r>
              <a:rPr lang="en-US" sz="1000" b="1" kern="12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Circuit/System Design</a:t>
            </a:r>
            <a:endParaRPr lang="en-US" sz="1200">
              <a:effectLst/>
              <a:latin typeface="Calibri" panose="020F0502020204030204" pitchFamily="34" charset="0"/>
              <a:ea typeface="Malgun Gothic" panose="020B0503020000020004" pitchFamily="34" charset="-127"/>
            </a:endParaRPr>
          </a:p>
        </p:txBody>
      </p:sp>
      <p:sp>
        <p:nvSpPr>
          <p:cNvPr id="30" name="TextBox 38">
            <a:extLst>
              <a:ext uri="{FF2B5EF4-FFF2-40B4-BE49-F238E27FC236}">
                <a16:creationId xmlns:a16="http://schemas.microsoft.com/office/drawing/2014/main" id="{CBDFEFC5-662F-A4EE-9D08-1EAF2FAABBC7}"/>
              </a:ext>
            </a:extLst>
          </p:cNvPr>
          <p:cNvSpPr txBox="1"/>
          <p:nvPr/>
        </p:nvSpPr>
        <p:spPr>
          <a:xfrm>
            <a:off x="2947033" y="3624732"/>
            <a:ext cx="1404545" cy="310328"/>
          </a:xfrm>
          <a:prstGeom prst="rect">
            <a:avLst/>
          </a:prstGeom>
          <a:solidFill>
            <a:srgbClr val="F56356"/>
          </a:solidFill>
          <a:ln w="6350">
            <a:noFill/>
          </a:ln>
        </p:spPr>
        <p:txBody>
          <a:bodyPr wrap="square" tIns="9144" bIns="9144" rtlCol="0">
            <a:spAutoFit/>
          </a:bodyPr>
          <a:lstStyle/>
          <a:p>
            <a:pPr marL="0" marR="0" algn="ctr">
              <a:buNone/>
            </a:pPr>
            <a:r>
              <a:rPr lang="en-US" sz="1000" b="1" kern="12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System Benchmark</a:t>
            </a:r>
            <a:endParaRPr lang="en-US" sz="1200">
              <a:effectLst/>
              <a:latin typeface="Calibri" panose="020F0502020204030204" pitchFamily="34" charset="0"/>
              <a:ea typeface="Malgun Gothic" panose="020B0503020000020004" pitchFamily="34" charset="-127"/>
            </a:endParaRPr>
          </a:p>
          <a:p>
            <a:pPr marL="0" marR="0" algn="ctr">
              <a:buNone/>
            </a:pPr>
            <a:r>
              <a:rPr lang="en-US" sz="1000" b="1" kern="12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(DTCO/STCO)</a:t>
            </a:r>
            <a:endParaRPr lang="en-US" sz="1200">
              <a:effectLst/>
              <a:latin typeface="Calibri" panose="020F0502020204030204" pitchFamily="34" charset="0"/>
              <a:ea typeface="Malgun Gothic" panose="020B0503020000020004" pitchFamily="34" charset="-127"/>
            </a:endParaRPr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F5ADC213-E0A0-E77E-7EBC-5EB00DD3C905}"/>
              </a:ext>
            </a:extLst>
          </p:cNvPr>
          <p:cNvSpPr/>
          <p:nvPr/>
        </p:nvSpPr>
        <p:spPr>
          <a:xfrm>
            <a:off x="3574549" y="1559283"/>
            <a:ext cx="154260" cy="276342"/>
          </a:xfrm>
          <a:prstGeom prst="downArrow">
            <a:avLst/>
          </a:prstGeom>
          <a:solidFill>
            <a:sysClr val="windowText" lastClr="000000">
              <a:lumMod val="50000"/>
              <a:lumOff val="50000"/>
              <a:alpha val="40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A26374F-FEA6-A004-6AF3-A9AC5C79D4B6}"/>
              </a:ext>
            </a:extLst>
          </p:cNvPr>
          <p:cNvCxnSpPr>
            <a:cxnSpLocks/>
            <a:stCxn id="26" idx="3"/>
            <a:endCxn id="33" idx="1"/>
          </p:cNvCxnSpPr>
          <p:nvPr/>
        </p:nvCxnSpPr>
        <p:spPr>
          <a:xfrm flipV="1">
            <a:off x="4351581" y="829029"/>
            <a:ext cx="459093" cy="625006"/>
          </a:xfrm>
          <a:prstGeom prst="line">
            <a:avLst/>
          </a:prstGeom>
          <a:noFill/>
          <a:ln w="19050" cap="flat" cmpd="sng" algn="ctr">
            <a:solidFill>
              <a:srgbClr val="ECDA99"/>
            </a:solidFill>
            <a:prstDash val="sysDash"/>
            <a:miter lim="800000"/>
          </a:ln>
          <a:effectLst/>
        </p:spPr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54BACAC5-C3AF-1967-61EA-F99D107AD744}"/>
              </a:ext>
            </a:extLst>
          </p:cNvPr>
          <p:cNvSpPr/>
          <p:nvPr/>
        </p:nvSpPr>
        <p:spPr>
          <a:xfrm>
            <a:off x="4810674" y="467677"/>
            <a:ext cx="4697175" cy="722702"/>
          </a:xfrm>
          <a:prstGeom prst="rect">
            <a:avLst/>
          </a:prstGeom>
          <a:noFill/>
          <a:ln w="19050" cap="flat" cmpd="sng" algn="ctr">
            <a:solidFill>
              <a:srgbClr val="ECDA9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algn="just">
              <a:buNone/>
            </a:pPr>
            <a:r>
              <a:rPr lang="en-US" sz="1000" b="1" kern="1200">
                <a:solidFill>
                  <a:srgbClr val="0070C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</a:rPr>
              <a:t>(1) Process development of emerging oxide/ferroelectric materials: </a:t>
            </a:r>
            <a:endParaRPr lang="en-US" sz="1200">
              <a:effectLst/>
              <a:latin typeface="Calibri" panose="020F0502020204030204" pitchFamily="34" charset="0"/>
              <a:ea typeface="Malgun Gothic" panose="020B0503020000020004" pitchFamily="34" charset="-127"/>
            </a:endParaRPr>
          </a:p>
          <a:p>
            <a:pPr marL="0" marR="0" algn="just">
              <a:buNone/>
            </a:pPr>
            <a:r>
              <a:rPr lang="en-US" sz="1000" kern="12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  <a:cs typeface="Garamond" panose="02020404030301010803" pitchFamily="18" charset="0"/>
              </a:rPr>
              <a:t>proficient in ALD oxide thin film deposition (W-doped In</a:t>
            </a:r>
            <a:r>
              <a:rPr lang="en-US" sz="1000" kern="1200" baseline="-250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  <a:cs typeface="Garamond" panose="02020404030301010803" pitchFamily="18" charset="0"/>
              </a:rPr>
              <a:t>2</a:t>
            </a:r>
            <a:r>
              <a:rPr lang="en-US" sz="1000" kern="12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  <a:cs typeface="Garamond" panose="02020404030301010803" pitchFamily="18" charset="0"/>
              </a:rPr>
              <a:t>O</a:t>
            </a:r>
            <a:r>
              <a:rPr lang="en-US" sz="1000" kern="1200" baseline="-250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  <a:cs typeface="Garamond" panose="02020404030301010803" pitchFamily="18" charset="0"/>
              </a:rPr>
              <a:t>3</a:t>
            </a:r>
            <a:r>
              <a:rPr lang="en-US" sz="1000" kern="12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  <a:cs typeface="Garamond" panose="02020404030301010803" pitchFamily="18" charset="0"/>
              </a:rPr>
              <a:t>, Hf</a:t>
            </a:r>
            <a:r>
              <a:rPr lang="en-US" sz="1000" kern="1200" baseline="-250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  <a:cs typeface="Garamond" panose="02020404030301010803" pitchFamily="18" charset="0"/>
              </a:rPr>
              <a:t>1-x</a:t>
            </a:r>
            <a:r>
              <a:rPr lang="en-US" sz="1000" kern="12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  <a:cs typeface="Garamond" panose="02020404030301010803" pitchFamily="18" charset="0"/>
              </a:rPr>
              <a:t>Zr</a:t>
            </a:r>
            <a:r>
              <a:rPr lang="en-US" sz="1000" kern="1200" baseline="-250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  <a:cs typeface="Garamond" panose="02020404030301010803" pitchFamily="18" charset="0"/>
              </a:rPr>
              <a:t>x</a:t>
            </a:r>
            <a:r>
              <a:rPr lang="en-US" sz="1000" kern="12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  <a:cs typeface="Garamond" panose="02020404030301010803" pitchFamily="18" charset="0"/>
              </a:rPr>
              <a:t>O</a:t>
            </a:r>
            <a:r>
              <a:rPr lang="en-US" sz="1000" kern="1200" baseline="-250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  <a:cs typeface="Garamond" panose="02020404030301010803" pitchFamily="18" charset="0"/>
              </a:rPr>
              <a:t>2</a:t>
            </a:r>
            <a:r>
              <a:rPr lang="en-US" sz="1000" kern="12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  <a:cs typeface="Garamond" panose="02020404030301010803" pitchFamily="18" charset="0"/>
              </a:rPr>
              <a:t>), photolithography, PVD (metal, oxide thin films), dry etch (CCP/ICP-RIE), ellipsometry, RTP, mask design (cadence virtuoso) etc. </a:t>
            </a:r>
            <a:r>
              <a:rPr lang="en-US" sz="1000" b="1" kern="1200">
                <a:solidFill>
                  <a:srgbClr val="00B05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</a:rPr>
              <a:t>(IEDM 24’, DRC 24’, VLSI 24’, TED 24’)</a:t>
            </a:r>
            <a:r>
              <a:rPr lang="en-US" sz="1000" b="1" kern="12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</a:rPr>
              <a:t>.</a:t>
            </a:r>
            <a:endParaRPr lang="en-US" sz="1200">
              <a:effectLst/>
              <a:latin typeface="Calibri" panose="020F0502020204030204" pitchFamily="34" charset="0"/>
              <a:ea typeface="Malgun Gothic" panose="020B0503020000020004" pitchFamily="34" charset="-127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A098B6-27AF-0219-E7E9-0D489905086E}"/>
              </a:ext>
            </a:extLst>
          </p:cNvPr>
          <p:cNvSpPr/>
          <p:nvPr/>
        </p:nvSpPr>
        <p:spPr>
          <a:xfrm>
            <a:off x="4810684" y="1222117"/>
            <a:ext cx="4697147" cy="1108306"/>
          </a:xfrm>
          <a:prstGeom prst="rect">
            <a:avLst/>
          </a:prstGeom>
          <a:noFill/>
          <a:ln w="19050" cap="flat" cmpd="sng" algn="ctr">
            <a:solidFill>
              <a:srgbClr val="EEC47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algn="just">
              <a:buNone/>
            </a:pPr>
            <a:r>
              <a:rPr lang="en-US" sz="1000" b="1" kern="1200">
                <a:solidFill>
                  <a:srgbClr val="0070C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</a:rPr>
              <a:t>(2) Fabrication of oxide/ferroelectric devices for novel memory/computing: </a:t>
            </a:r>
            <a:endParaRPr lang="en-US" sz="1200">
              <a:effectLst/>
              <a:latin typeface="Calibri" panose="020F0502020204030204" pitchFamily="34" charset="0"/>
              <a:ea typeface="Malgun Gothic" panose="020B0503020000020004" pitchFamily="34" charset="-127"/>
            </a:endParaRPr>
          </a:p>
          <a:p>
            <a:pPr marL="0" marR="0" algn="just">
              <a:buNone/>
            </a:pPr>
            <a:r>
              <a:rPr lang="en-US" sz="1000" kern="12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</a:rPr>
              <a:t>experimentally demonstrated (i) ferroelectric non-volatile capacitors, (ii) high-voltage superlattice capacitor, (iii) field-effect varactors </a:t>
            </a:r>
            <a:r>
              <a:rPr lang="en-US" sz="1000" b="1" kern="1200">
                <a:solidFill>
                  <a:srgbClr val="00B05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</a:rPr>
              <a:t>(IEDM 25’×2, VLSI 24’)</a:t>
            </a:r>
            <a:r>
              <a:rPr lang="en-US" sz="1000" b="1" kern="12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</a:rPr>
              <a:t>.</a:t>
            </a:r>
            <a:endParaRPr lang="en-US" sz="1200">
              <a:effectLst/>
              <a:latin typeface="Calibri" panose="020F0502020204030204" pitchFamily="34" charset="0"/>
              <a:ea typeface="Malgun Gothic" panose="020B0503020000020004" pitchFamily="34" charset="-127"/>
            </a:endParaRPr>
          </a:p>
          <a:p>
            <a:pPr marL="0" marR="0" algn="just">
              <a:buNone/>
            </a:pPr>
            <a:r>
              <a:rPr lang="en-US" sz="1000" b="1" kern="1200">
                <a:solidFill>
                  <a:srgbClr val="0070C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</a:rPr>
              <a:t>(3) </a:t>
            </a:r>
            <a:r>
              <a:rPr lang="en-US" sz="1000" b="1" kern="1200">
                <a:solidFill>
                  <a:srgbClr val="0070C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  <a:cs typeface="Garamond" panose="02020404030301010803" pitchFamily="18" charset="0"/>
              </a:rPr>
              <a:t>Proficient device and array characterization skills: </a:t>
            </a:r>
            <a:endParaRPr lang="en-US" sz="1200">
              <a:effectLst/>
              <a:latin typeface="Calibri" panose="020F0502020204030204" pitchFamily="34" charset="0"/>
              <a:ea typeface="Malgun Gothic" panose="020B0503020000020004" pitchFamily="34" charset="-127"/>
            </a:endParaRPr>
          </a:p>
          <a:p>
            <a:pPr marL="0" marR="0" algn="just">
              <a:buNone/>
            </a:pPr>
            <a:r>
              <a:rPr lang="en-US" sz="1000" kern="12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  <a:cs typeface="Garamond" panose="02020404030301010803" pitchFamily="18" charset="0"/>
              </a:rPr>
              <a:t>proficient in scripting Keysight B1500A, Keithley 4200A, oscilloscopes (Keysight MSOS804A), function generators (Keysight 81160A), switch matrices (Keithley 707B), and semi-automatic probe stations (Summit 12K).</a:t>
            </a:r>
            <a:endParaRPr lang="en-US" sz="1200">
              <a:effectLst/>
              <a:latin typeface="Calibri" panose="020F0502020204030204" pitchFamily="34" charset="0"/>
              <a:ea typeface="Malgun Gothic" panose="020B0503020000020004" pitchFamily="34" charset="-127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50A5BD6-76B3-0914-F326-473433C21C87}"/>
              </a:ext>
            </a:extLst>
          </p:cNvPr>
          <p:cNvCxnSpPr>
            <a:cxnSpLocks/>
            <a:stCxn id="29" idx="3"/>
            <a:endCxn id="39" idx="1"/>
          </p:cNvCxnSpPr>
          <p:nvPr/>
        </p:nvCxnSpPr>
        <p:spPr>
          <a:xfrm>
            <a:off x="4355177" y="3070455"/>
            <a:ext cx="455488" cy="132427"/>
          </a:xfrm>
          <a:prstGeom prst="line">
            <a:avLst/>
          </a:prstGeom>
          <a:noFill/>
          <a:ln w="19050" cap="flat" cmpd="sng" algn="ctr">
            <a:solidFill>
              <a:srgbClr val="F7935C"/>
            </a:solidFill>
            <a:prstDash val="sysDash"/>
            <a:miter lim="800000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2C3C8DC-95B0-8509-F5F2-5F654F5E8E1B}"/>
              </a:ext>
            </a:extLst>
          </p:cNvPr>
          <p:cNvCxnSpPr>
            <a:cxnSpLocks/>
            <a:stCxn id="27" idx="3"/>
            <a:endCxn id="34" idx="1"/>
          </p:cNvCxnSpPr>
          <p:nvPr/>
        </p:nvCxnSpPr>
        <p:spPr>
          <a:xfrm flipV="1">
            <a:off x="4351580" y="1776270"/>
            <a:ext cx="459104" cy="173297"/>
          </a:xfrm>
          <a:prstGeom prst="line">
            <a:avLst/>
          </a:prstGeom>
          <a:noFill/>
          <a:ln w="19050" cap="flat" cmpd="sng" algn="ctr">
            <a:solidFill>
              <a:srgbClr val="EEC47D"/>
            </a:solidFill>
            <a:prstDash val="sysDash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3391FB2-CA99-E5AD-C333-5792175457B5}"/>
              </a:ext>
            </a:extLst>
          </p:cNvPr>
          <p:cNvCxnSpPr>
            <a:cxnSpLocks/>
            <a:stCxn id="28" idx="3"/>
            <a:endCxn id="38" idx="1"/>
          </p:cNvCxnSpPr>
          <p:nvPr/>
        </p:nvCxnSpPr>
        <p:spPr>
          <a:xfrm>
            <a:off x="4351579" y="2505463"/>
            <a:ext cx="459115" cy="124430"/>
          </a:xfrm>
          <a:prstGeom prst="line">
            <a:avLst/>
          </a:prstGeom>
          <a:noFill/>
          <a:ln w="19050" cap="flat" cmpd="sng" algn="ctr">
            <a:solidFill>
              <a:srgbClr val="F3AD6A"/>
            </a:solidFill>
            <a:prstDash val="sysDash"/>
            <a:miter lim="800000"/>
          </a:ln>
          <a:effectLst/>
        </p:spPr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069E8C55-BD8D-926A-1317-FCF43A422074}"/>
              </a:ext>
            </a:extLst>
          </p:cNvPr>
          <p:cNvSpPr/>
          <p:nvPr/>
        </p:nvSpPr>
        <p:spPr>
          <a:xfrm>
            <a:off x="4810694" y="2354793"/>
            <a:ext cx="4698750" cy="550199"/>
          </a:xfrm>
          <a:prstGeom prst="rect">
            <a:avLst/>
          </a:prstGeom>
          <a:noFill/>
          <a:ln w="19050" cap="flat" cmpd="sng" algn="ctr">
            <a:solidFill>
              <a:srgbClr val="F3AD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algn="just">
              <a:buNone/>
            </a:pPr>
            <a:r>
              <a:rPr lang="en-US" sz="1000" b="1" kern="1200">
                <a:solidFill>
                  <a:srgbClr val="0070C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</a:rPr>
              <a:t>(4)</a:t>
            </a:r>
            <a:r>
              <a:rPr lang="en-US" sz="1000" b="1" kern="12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</a:rPr>
              <a:t> </a:t>
            </a:r>
            <a:r>
              <a:rPr lang="en-US" sz="1000" b="1" kern="1200">
                <a:solidFill>
                  <a:srgbClr val="0070C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</a:rPr>
              <a:t>M3D process integration of oxide/ferroelectric devices on foundry CMOS chips:</a:t>
            </a:r>
            <a:r>
              <a:rPr lang="en-US" sz="1000" b="1" kern="12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</a:rPr>
              <a:t> </a:t>
            </a:r>
            <a:endParaRPr lang="en-US" sz="1200">
              <a:effectLst/>
              <a:latin typeface="Calibri" panose="020F0502020204030204" pitchFamily="34" charset="0"/>
              <a:ea typeface="Malgun Gothic" panose="020B0503020000020004" pitchFamily="34" charset="-127"/>
            </a:endParaRPr>
          </a:p>
          <a:p>
            <a:pPr marL="0" marR="0" algn="just">
              <a:buNone/>
            </a:pPr>
            <a:r>
              <a:rPr lang="en-US" sz="1000" kern="12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  <a:cs typeface="Garamond" panose="02020404030301010803" pitchFamily="18" charset="0"/>
              </a:rPr>
              <a:t>designed and experimentally demonstrated monolithic 3D integration flow for BEOL memory/computing devices on foundry CMOS </a:t>
            </a:r>
            <a:r>
              <a:rPr lang="en-US" sz="1000" b="1" kern="1200">
                <a:solidFill>
                  <a:srgbClr val="00B05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  <a:cs typeface="Garamond" panose="02020404030301010803" pitchFamily="18" charset="0"/>
              </a:rPr>
              <a:t>(IEDM 25’, TED 26’)</a:t>
            </a:r>
            <a:r>
              <a:rPr lang="en-US" sz="1000" b="1" kern="12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  <a:cs typeface="Garamond" panose="02020404030301010803" pitchFamily="18" charset="0"/>
              </a:rPr>
              <a:t>.</a:t>
            </a:r>
            <a:endParaRPr lang="en-US" sz="1200">
              <a:effectLst/>
              <a:latin typeface="Calibri" panose="020F0502020204030204" pitchFamily="34" charset="0"/>
              <a:ea typeface="Malgun Gothic" panose="020B0503020000020004" pitchFamily="34" charset="-127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0664A1E-4215-20A8-375F-E531C5B9CB18}"/>
              </a:ext>
            </a:extLst>
          </p:cNvPr>
          <p:cNvSpPr/>
          <p:nvPr/>
        </p:nvSpPr>
        <p:spPr>
          <a:xfrm>
            <a:off x="4810665" y="2933361"/>
            <a:ext cx="4698574" cy="539041"/>
          </a:xfrm>
          <a:prstGeom prst="rect">
            <a:avLst/>
          </a:prstGeom>
          <a:noFill/>
          <a:ln w="19050" cap="flat" cmpd="sng" algn="ctr">
            <a:solidFill>
              <a:srgbClr val="F7935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algn="just">
              <a:buNone/>
            </a:pPr>
            <a:r>
              <a:rPr lang="en-US" sz="1000" b="1" kern="1200">
                <a:solidFill>
                  <a:srgbClr val="0070C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</a:rPr>
              <a:t>(5) 3D-integrated circuit/system design for next-generation AI hardware:</a:t>
            </a:r>
            <a:endParaRPr lang="en-US" sz="1200">
              <a:effectLst/>
              <a:latin typeface="Calibri" panose="020F0502020204030204" pitchFamily="34" charset="0"/>
              <a:ea typeface="Malgun Gothic" panose="020B0503020000020004" pitchFamily="34" charset="-127"/>
            </a:endParaRPr>
          </a:p>
          <a:p>
            <a:pPr marL="0" marR="0" algn="just">
              <a:buNone/>
            </a:pPr>
            <a:r>
              <a:rPr lang="en-US" sz="1000" kern="12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</a:rPr>
              <a:t>Designed and proposed capacitive digital compute-in-memory (Cap-DCIM), CFET-based 8T DCIM for energy-efficient M3D AI hardware </a:t>
            </a:r>
            <a:r>
              <a:rPr lang="en-US" sz="1000" b="1" kern="1200">
                <a:solidFill>
                  <a:srgbClr val="00B05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</a:rPr>
              <a:t>(</a:t>
            </a:r>
            <a:r>
              <a:rPr lang="en-US" sz="1000" b="1" kern="1200">
                <a:solidFill>
                  <a:srgbClr val="00B05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  <a:cs typeface="Garamond" panose="02020404030301010803" pitchFamily="18" charset="0"/>
              </a:rPr>
              <a:t>IEDM 25’, </a:t>
            </a:r>
            <a:r>
              <a:rPr lang="en-US" sz="1000" b="1" kern="1200">
                <a:solidFill>
                  <a:srgbClr val="00B05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</a:rPr>
              <a:t>TVLSI 25’)</a:t>
            </a:r>
            <a:r>
              <a:rPr lang="en-US" sz="1000" kern="12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</a:rPr>
              <a:t>. </a:t>
            </a:r>
            <a:endParaRPr lang="en-US" sz="1200">
              <a:effectLst/>
              <a:latin typeface="Calibri" panose="020F0502020204030204" pitchFamily="34" charset="0"/>
              <a:ea typeface="Malgun Gothic" panose="020B0503020000020004" pitchFamily="34" charset="-127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FD54289-92ED-B46B-70A1-F4EB97201B73}"/>
              </a:ext>
            </a:extLst>
          </p:cNvPr>
          <p:cNvCxnSpPr>
            <a:cxnSpLocks/>
            <a:stCxn id="30" idx="3"/>
            <a:endCxn id="44" idx="1"/>
          </p:cNvCxnSpPr>
          <p:nvPr/>
        </p:nvCxnSpPr>
        <p:spPr>
          <a:xfrm>
            <a:off x="4351578" y="3779896"/>
            <a:ext cx="459077" cy="70053"/>
          </a:xfrm>
          <a:prstGeom prst="line">
            <a:avLst/>
          </a:prstGeom>
          <a:noFill/>
          <a:ln w="19050" cap="flat" cmpd="sng" algn="ctr">
            <a:solidFill>
              <a:srgbClr val="F56356"/>
            </a:solidFill>
            <a:prstDash val="sysDash"/>
            <a:miter lim="800000"/>
          </a:ln>
          <a:effectLst/>
        </p:spPr>
      </p:cxnSp>
      <p:sp>
        <p:nvSpPr>
          <p:cNvPr id="41" name="Arrow: Down 40">
            <a:extLst>
              <a:ext uri="{FF2B5EF4-FFF2-40B4-BE49-F238E27FC236}">
                <a16:creationId xmlns:a16="http://schemas.microsoft.com/office/drawing/2014/main" id="{DD59A3FB-7DDD-1EF4-D26D-198340784E77}"/>
              </a:ext>
            </a:extLst>
          </p:cNvPr>
          <p:cNvSpPr/>
          <p:nvPr/>
        </p:nvSpPr>
        <p:spPr>
          <a:xfrm>
            <a:off x="3574549" y="2054488"/>
            <a:ext cx="154260" cy="276342"/>
          </a:xfrm>
          <a:prstGeom prst="downArrow">
            <a:avLst/>
          </a:prstGeom>
          <a:solidFill>
            <a:sysClr val="windowText" lastClr="000000">
              <a:lumMod val="65000"/>
              <a:lumOff val="35000"/>
              <a:alpha val="40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Arrow: Down 41">
            <a:extLst>
              <a:ext uri="{FF2B5EF4-FFF2-40B4-BE49-F238E27FC236}">
                <a16:creationId xmlns:a16="http://schemas.microsoft.com/office/drawing/2014/main" id="{149A51F1-55C1-48ED-FB1B-9C83147A7BBB}"/>
              </a:ext>
            </a:extLst>
          </p:cNvPr>
          <p:cNvSpPr/>
          <p:nvPr/>
        </p:nvSpPr>
        <p:spPr>
          <a:xfrm>
            <a:off x="3574549" y="2691430"/>
            <a:ext cx="154260" cy="276342"/>
          </a:xfrm>
          <a:prstGeom prst="downArrow">
            <a:avLst/>
          </a:prstGeom>
          <a:solidFill>
            <a:sysClr val="windowText" lastClr="000000">
              <a:lumMod val="75000"/>
              <a:lumOff val="25000"/>
              <a:alpha val="40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64029820-B195-EB91-50AE-829898C63810}"/>
              </a:ext>
            </a:extLst>
          </p:cNvPr>
          <p:cNvSpPr/>
          <p:nvPr/>
        </p:nvSpPr>
        <p:spPr>
          <a:xfrm>
            <a:off x="3574549" y="3320236"/>
            <a:ext cx="154260" cy="276342"/>
          </a:xfrm>
          <a:prstGeom prst="downArrow">
            <a:avLst/>
          </a:prstGeom>
          <a:solidFill>
            <a:sysClr val="windowText" lastClr="000000">
              <a:lumMod val="85000"/>
              <a:lumOff val="15000"/>
              <a:alpha val="40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0F2502C-81BA-5809-5DA3-C1F606C2919A}"/>
              </a:ext>
            </a:extLst>
          </p:cNvPr>
          <p:cNvSpPr/>
          <p:nvPr/>
        </p:nvSpPr>
        <p:spPr>
          <a:xfrm>
            <a:off x="4810655" y="3504134"/>
            <a:ext cx="4694081" cy="691630"/>
          </a:xfrm>
          <a:prstGeom prst="rect">
            <a:avLst/>
          </a:prstGeom>
          <a:noFill/>
          <a:ln w="19050" cap="flat" cmpd="sng" algn="ctr">
            <a:solidFill>
              <a:srgbClr val="F5635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algn="just">
              <a:buNone/>
            </a:pPr>
            <a:r>
              <a:rPr lang="en-US" sz="1000" b="1" kern="1200">
                <a:solidFill>
                  <a:srgbClr val="0070C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</a:rPr>
              <a:t>(6) Understanding process-to-system interaction through DTCO/STCO:</a:t>
            </a:r>
            <a:endParaRPr lang="en-US" sz="1200">
              <a:effectLst/>
              <a:latin typeface="Calibri" panose="020F0502020204030204" pitchFamily="34" charset="0"/>
              <a:ea typeface="Malgun Gothic" panose="020B0503020000020004" pitchFamily="34" charset="-127"/>
            </a:endParaRPr>
          </a:p>
          <a:p>
            <a:pPr marL="0" marR="0" algn="just">
              <a:buNone/>
            </a:pPr>
            <a:r>
              <a:rPr lang="en-US" sz="1000" kern="12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</a:rPr>
              <a:t>Lead developer of “NeuroSim V1.4” - Device-to-system power/performance/area (PPA) benchmarking framework for emerging memories for digital-compute-in-memory at leading-edge nodes beyond 2 nm </a:t>
            </a:r>
            <a:r>
              <a:rPr lang="en-US" sz="1000" b="1" kern="1200">
                <a:solidFill>
                  <a:srgbClr val="00B05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</a:rPr>
              <a:t>(TCAS-I 24’, TVLSI 25’, Nature EE Reviews 24’)</a:t>
            </a:r>
            <a:r>
              <a:rPr lang="en-US" sz="1000" kern="12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</a:rPr>
              <a:t>.</a:t>
            </a:r>
            <a:endParaRPr lang="en-US" sz="1200">
              <a:effectLst/>
              <a:latin typeface="Calibri" panose="020F0502020204030204" pitchFamily="34" charset="0"/>
              <a:ea typeface="Malgun Gothic" panose="020B0503020000020004" pitchFamily="34" charset="-127"/>
            </a:endParaRPr>
          </a:p>
        </p:txBody>
      </p:sp>
      <p:sp>
        <p:nvSpPr>
          <p:cNvPr id="45" name="TextBox 23">
            <a:extLst>
              <a:ext uri="{FF2B5EF4-FFF2-40B4-BE49-F238E27FC236}">
                <a16:creationId xmlns:a16="http://schemas.microsoft.com/office/drawing/2014/main" id="{A8E569EF-EB36-5549-93CA-4087FD7DB8BB}"/>
              </a:ext>
            </a:extLst>
          </p:cNvPr>
          <p:cNvSpPr txBox="1"/>
          <p:nvPr/>
        </p:nvSpPr>
        <p:spPr>
          <a:xfrm>
            <a:off x="2911157" y="808149"/>
            <a:ext cx="1493448" cy="51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buNone/>
            </a:pPr>
            <a:r>
              <a:rPr lang="en-US" sz="1000" b="1" u="sng" kern="12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</a:rPr>
              <a:t>My Research Approach</a:t>
            </a:r>
            <a:r>
              <a:rPr lang="en-US" sz="1000" b="1" kern="12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</a:rPr>
              <a:t>:</a:t>
            </a:r>
            <a:endParaRPr lang="en-US" sz="1200">
              <a:effectLst/>
              <a:latin typeface="Calibri" panose="020F0502020204030204" pitchFamily="34" charset="0"/>
              <a:ea typeface="Malgun Gothic" panose="020B0503020000020004" pitchFamily="34" charset="-127"/>
            </a:endParaRPr>
          </a:p>
          <a:p>
            <a:pPr marL="0" marR="0" algn="ctr">
              <a:buNone/>
            </a:pPr>
            <a:r>
              <a:rPr lang="en-US" sz="1000" b="1" kern="12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</a:rPr>
              <a:t>“Process-to-System”</a:t>
            </a:r>
            <a:endParaRPr lang="en-US" sz="1200">
              <a:effectLst/>
              <a:latin typeface="Calibri" panose="020F0502020204030204" pitchFamily="34" charset="0"/>
              <a:ea typeface="Malgun Gothic" panose="020B0503020000020004" pitchFamily="34" charset="-127"/>
            </a:endParaRPr>
          </a:p>
          <a:p>
            <a:pPr marL="0" marR="0" algn="ctr">
              <a:buNone/>
            </a:pPr>
            <a:r>
              <a:rPr lang="en-US" sz="1000" b="1" kern="1200">
                <a:solidFill>
                  <a:srgbClr val="000000"/>
                </a:solidFill>
                <a:effectLst/>
                <a:latin typeface="Garamond" panose="02020404030301010803" pitchFamily="18" charset="0"/>
                <a:ea typeface="Malgun Gothic" panose="020B0503020000020004" pitchFamily="34" charset="-127"/>
              </a:rPr>
              <a:t>Co-optimization</a:t>
            </a:r>
            <a:endParaRPr lang="en-US" sz="1200">
              <a:effectLst/>
              <a:latin typeface="Calibri" panose="020F0502020204030204" pitchFamily="34" charset="0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4870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879</TotalTime>
  <Words>316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Garamond</vt:lpstr>
      <vt:lpstr>Office Theme</vt:lpstr>
      <vt:lpstr>PowerPoint Presentation</vt:lpstr>
    </vt:vector>
  </TitlesOfParts>
  <Company>Georgia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Lee, Junmo</dc:creator>
  <cp:lastModifiedBy>Lee, Junmo</cp:lastModifiedBy>
  <cp:revision>1</cp:revision>
  <dcterms:created xsi:type="dcterms:W3CDTF">2026-08-03T08:20:25Z</dcterms:created>
  <dcterms:modified xsi:type="dcterms:W3CDTF">2026-08-08T09:21:42Z</dcterms:modified>
</cp:coreProperties>
</file>